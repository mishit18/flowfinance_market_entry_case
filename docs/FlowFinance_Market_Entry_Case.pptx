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23915ebf1447fa" /><Relationship Type="http://schemas.openxmlformats.org/officeDocument/2006/relationships/extended-properties" Target="/docProps/app.xml" Id="R7321ba9cf08243c9" /><Relationship Type="http://schemas.openxmlformats.org/officeDocument/2006/relationships/officeDocument" Target="/ppt/presentation.xml" Id="R74977e9c963045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df4f6fd5d14392"/>
  </p:sldMasterIdLst>
  <p:notesMasterIdLst>
    <p:notesMasterId xmlns:r="http://schemas.openxmlformats.org/officeDocument/2006/relationships" r:id="R96e307cbd81e4cb9"/>
  </p:notesMasterIdLst>
  <p:sldIdLst>
    <p:sldId xmlns:r="http://schemas.openxmlformats.org/officeDocument/2006/relationships" id="256" r:id="Rdeaba88b4d8142d8"/>
    <p:sldId xmlns:r="http://schemas.openxmlformats.org/officeDocument/2006/relationships" id="257" r:id="Ra1171f6e868d42f2"/>
    <p:sldId xmlns:r="http://schemas.openxmlformats.org/officeDocument/2006/relationships" id="258" r:id="R07250a5bfed24bdc"/>
    <p:sldId xmlns:r="http://schemas.openxmlformats.org/officeDocument/2006/relationships" id="259" r:id="R31c961b45ec543d6"/>
    <p:sldId xmlns:r="http://schemas.openxmlformats.org/officeDocument/2006/relationships" id="260" r:id="R57ccbe62f1d44e82"/>
    <p:sldId xmlns:r="http://schemas.openxmlformats.org/officeDocument/2006/relationships" id="261" r:id="Rdbce6febebb64541"/>
    <p:sldId xmlns:r="http://schemas.openxmlformats.org/officeDocument/2006/relationships" id="262" r:id="Rc2934a6ef289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7f5e9886b47ed" /><Relationship Type="http://schemas.openxmlformats.org/officeDocument/2006/relationships/slideMaster" Target="/ppt/slideMasters/slideMaster1.xml" Id="Rcedf4f6fd5d14392" /><Relationship Type="http://schemas.openxmlformats.org/officeDocument/2006/relationships/notesMaster" Target="/ppt/notesMasters/notesMaster1.xml" Id="R96e307cbd81e4cb9" /><Relationship Type="http://schemas.openxmlformats.org/officeDocument/2006/relationships/presProps" Target="/ppt/presProps.xml" Id="R5bab790c4eb749e8" /><Relationship Type="http://schemas.openxmlformats.org/officeDocument/2006/relationships/tableStyles" Target="/ppt/tableStyles.xml" Id="Rcfe5363ee8a9447e" /><Relationship Type="http://schemas.openxmlformats.org/officeDocument/2006/relationships/slide" Target="/ppt/slides/slide1.xml" Id="Rdeaba88b4d8142d8" /><Relationship Type="http://schemas.openxmlformats.org/officeDocument/2006/relationships/slide" Target="/ppt/slides/slide2.xml" Id="Ra1171f6e868d42f2" /><Relationship Type="http://schemas.openxmlformats.org/officeDocument/2006/relationships/slide" Target="/ppt/slides/slide3.xml" Id="R07250a5bfed24bdc" /><Relationship Type="http://schemas.openxmlformats.org/officeDocument/2006/relationships/slide" Target="/ppt/slides/slide4.xml" Id="R31c961b45ec543d6" /><Relationship Type="http://schemas.openxmlformats.org/officeDocument/2006/relationships/slide" Target="/ppt/slides/slide5.xml" Id="R57ccbe62f1d44e82" /><Relationship Type="http://schemas.openxmlformats.org/officeDocument/2006/relationships/slide" Target="/ppt/slides/slide6.xml" Id="Rdbce6febebb64541" /><Relationship Type="http://schemas.openxmlformats.org/officeDocument/2006/relationships/slide" Target="/ppt/slides/slide7.xml" Id="Rc2934a6ef289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6fc6f9830a49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36eb92150483b" /><Relationship Type="http://schemas.openxmlformats.org/officeDocument/2006/relationships/notesMaster" Target="/ppt/notesMasters/notesMaster1.xml" Id="Rd6f52155fdf1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fc58be0c24251" /><Relationship Type="http://schemas.openxmlformats.org/officeDocument/2006/relationships/notesMaster" Target="/ppt/notesMasters/notesMaster1.xml" Id="R10953a96ec35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233b8dd4f84bdf" /><Relationship Type="http://schemas.openxmlformats.org/officeDocument/2006/relationships/notesMaster" Target="/ppt/notesMasters/notesMaster1.xml" Id="Rfd7d8515554e41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db0d980af24996" /><Relationship Type="http://schemas.openxmlformats.org/officeDocument/2006/relationships/notesMaster" Target="/ppt/notesMasters/notesMaster1.xml" Id="R66d5fdae58ad4b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f6df7101a84417" /><Relationship Type="http://schemas.openxmlformats.org/officeDocument/2006/relationships/notesMaster" Target="/ppt/notesMasters/notesMaster1.xml" Id="R8f072a48444d43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bfacb03c764bbc" /><Relationship Type="http://schemas.openxmlformats.org/officeDocument/2006/relationships/notesMaster" Target="/ppt/notesMasters/notesMaster1.xml" Id="Re37c7d6a280140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880c70fcd64b00" /><Relationship Type="http://schemas.openxmlformats.org/officeDocument/2006/relationships/notesMaster" Target="/ppt/notesMasters/notesMaster1.xml" Id="R357e89b6a3ce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D:/GITHUB/STRATEGY/flowfinance_market_entry_case/docs/market_entry_deck.md</a:t>
            </a:r>
          </a:p>
          <a:p xmlns:a="http://schemas.openxmlformats.org/drawingml/2006/main">
            <a:r>
              <a:t>- D:/GITHUB/STRATEGY/flowfinance_market_entry_case/docs/public_product_evidence.md</a:t>
            </a:r>
          </a:p>
          <a:p xmlns:a="http://schemas.openxmlformats.org/drawingml/2006/main">
            <a:r>
              <a:t>- D:/GITHUB/STRATEGY/flowfinance_market_entry_case/figures/ltv_sensitivity_tornado.png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D:/GITHUB/STRATEGY/flowfinance_market_entry_case/docs/market_entry_deck.md</a:t>
            </a:r>
          </a:p>
          <a:p xmlns:a="http://schemas.openxmlformats.org/drawingml/2006/main">
            <a:r>
              <a:t>- D:/GITHUB/STRATEGY/flowfinance_market_entry_case/docs/case_report.md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D:/GITHUB/STRATEGY/flowfinance_market_entry_case/docs/market_entry_deck.md</a:t>
            </a:r>
          </a:p>
          <a:p xmlns:a="http://schemas.openxmlformats.org/drawingml/2006/main">
            <a:r>
              <a:t>- D:/GITHUB/STRATEGY/flowfinance_market_entry_case/models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D:/GITHUB/STRATEGY/flowfinance_market_entry_case/docs/market_entry_deck.md</a:t>
            </a:r>
          </a:p>
          <a:p xmlns:a="http://schemas.openxmlformats.org/drawingml/2006/main">
            <a:r>
              <a:t>- D:/GITHUB/STRATEGY/flowfinance_market_entry_case/models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D:/GITHUB/STRATEGY/flowfinance_market_entry_case/figures/ltv_sensitivity_tornado.png</a:t>
            </a:r>
          </a:p>
          <a:p xmlns:a="http://schemas.openxmlformats.org/drawingml/2006/main">
            <a:r>
              <a:t>- D:/GITHUB/STRATEGY/flowfinance_market_entry_case/docs/market_entry_deck.md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D:/GITHUB/STRATEGY/flowfinance_market_entry_case/models/launch_plan_90_days.csv</a:t>
            </a:r>
          </a:p>
          <a:p xmlns:a="http://schemas.openxmlformats.org/drawingml/2006/main">
            <a:r>
              <a:t>- D:/GITHUB/STRATEGY/flowfinance_market_entry_case/docs/market_entry_deck.md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D:/GITHUB/STRATEGY/flowfinance_market_entry_case/docs/public_product_evidence.md</a:t>
            </a:r>
          </a:p>
          <a:p xmlns:a="http://schemas.openxmlformats.org/drawingml/2006/main">
            <a:r>
              <a:t>- https://www.flowfinancebusiness.com</a:t>
            </a:r>
          </a:p>
          <a:p xmlns:a="http://schemas.openxmlformats.org/drawingml/2006/main">
            <a:r>
              <a:t>- D:/GITHUB/STRATEGY/flowfinance_market_entry_case/docs/market_entry_deck.md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e972b9d0f4a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1d4423beac4f5a" /><Relationship Type="http://schemas.openxmlformats.org/officeDocument/2006/relationships/slideLayout" Target="/ppt/slideLayouts/slideLayout1.xml" Id="R5c3b16c534e94f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b16c534e94f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0512b07aa4533" /><Relationship Type="http://schemas.openxmlformats.org/officeDocument/2006/relationships/image" Target="/ppt/media/image.png" Id="R3cc5682b7f3e46d4" /><Relationship Type="http://schemas.openxmlformats.org/officeDocument/2006/relationships/notesSlide" Target="/ppt/notesSlides/notesSlide1.xml" Id="R53747cc6268347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277d2f2274ef2" /><Relationship Type="http://schemas.openxmlformats.org/officeDocument/2006/relationships/notesSlide" Target="/ppt/notesSlides/notesSlide2.xml" Id="R87a753c9e6814b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d60c845384781" /><Relationship Type="http://schemas.openxmlformats.org/officeDocument/2006/relationships/chart" Target="/ppt/slides/charts/chart1.xml" Id="Rfc8aa7b48b0642ea" /><Relationship Type="http://schemas.openxmlformats.org/officeDocument/2006/relationships/notesSlide" Target="/ppt/notesSlides/notesSlide3.xml" Id="Rc5895f62f9fd4b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fb4390e944bb1" /><Relationship Type="http://schemas.openxmlformats.org/officeDocument/2006/relationships/chart" Target="/ppt/slides/charts/chart2.xml" Id="R269dcb32068d4b28" /><Relationship Type="http://schemas.openxmlformats.org/officeDocument/2006/relationships/notesSlide" Target="/ppt/notesSlides/notesSlide4.xml" Id="R50649f7a54e441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541b61f9b4e9e" /><Relationship Type="http://schemas.openxmlformats.org/officeDocument/2006/relationships/image" Target="/ppt/media/image2.png" Id="R5ef961e986fd4f0b" /><Relationship Type="http://schemas.openxmlformats.org/officeDocument/2006/relationships/notesSlide" Target="/ppt/notesSlides/notesSlide5.xml" Id="R6a187ee5b71243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e97a105a940a5" /><Relationship Type="http://schemas.openxmlformats.org/officeDocument/2006/relationships/notesSlide" Target="/ppt/notesSlides/notesSlide6.xml" Id="Rad24e68d52884d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86d8f6d56456e" /><Relationship Type="http://schemas.openxmlformats.org/officeDocument/2006/relationships/notesSlide" Target="/ppt/notesSlides/notesSlide7.xml" Id="R528e19ed8d0a47a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Modeled businesses</c:v>
          </c:tx>
          <c:spPr>
            <a:solidFill xmlns:a="http://schemas.openxmlformats.org/drawingml/2006/main">
              <a:srgbClr val="147D92"/>
            </a:solidFill>
          </c:spPr>
          <c:cat>
            <c:strLit>
              <c:ptCount val="5"/>
              <c:pt idx="0">
                <c:v>TAM</c:v>
              </c:pt>
              <c:pt idx="1">
                <c:v>SAM</c:v>
              </c:pt>
              <c:pt idx="2">
                <c:v>SOM Y1</c:v>
              </c:pt>
              <c:pt idx="3">
                <c:v>SOM Y2</c:v>
              </c:pt>
              <c:pt idx="4">
                <c:v>SOM Y3</c:v>
              </c:pt>
            </c:strLit>
          </c:cat>
          <c:val>
            <c:numLit>
              <c:formatCode>General</c:formatCode>
              <c:ptCount val="5"/>
              <c:pt idx="0">
                <c:v>22050000</c:v>
              </c:pt>
              <c:pt idx="1">
                <c:v>3969000</c:v>
              </c:pt>
              <c:pt idx="2">
                <c:v>2500</c:v>
              </c:pt>
              <c:pt idx="3">
                <c:v>12500</c:v>
              </c:pt>
              <c:pt idx="4">
                <c:v>50000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CAC (₹)</c:v>
          </c:tx>
          <c:spPr>
            <a:solidFill xmlns:a="http://schemas.openxmlformats.org/drawingml/2006/main">
              <a:srgbClr val="E0A12B"/>
            </a:solidFill>
          </c:spPr>
          <c:cat>
            <c:strLit>
              <c:ptCount val="4"/>
              <c:pt idx="0">
                <c:v>Starter</c:v>
              </c:pt>
              <c:pt idx="1">
                <c:v>Pro</c:v>
              </c:pt>
              <c:pt idx="2">
                <c:v>Growth</c:v>
              </c:pt>
              <c:pt idx="3">
                <c:v>Partner API</c:v>
              </c:pt>
            </c:strLit>
          </c:cat>
          <c:val>
            <c:numLit>
              <c:formatCode>General</c:formatCode>
              <c:ptCount val="4"/>
              <c:pt idx="0">
                <c:v>650</c:v>
              </c:pt>
              <c:pt idx="1">
                <c:v>1400</c:v>
              </c:pt>
              <c:pt idx="2">
                <c:v>4200</c:v>
              </c:pt>
              <c:pt idx="3">
                <c:v>35000</c:v>
              </c:pt>
            </c:numLit>
          </c:val>
        </c:ser>
        <c:ser>
          <c:idx val="1"/>
          <c:order val="1"/>
          <c:tx>
            <c:v>LTV (₹)</c:v>
          </c:tx>
          <c:spPr>
            <a:solidFill xmlns:a="http://schemas.openxmlformats.org/drawingml/2006/main">
              <a:srgbClr val="147D92"/>
            </a:solidFill>
          </c:spPr>
          <c:cat>
            <c:strLit>
              <c:ptCount val="4"/>
              <c:pt idx="0">
                <c:v>Starter</c:v>
              </c:pt>
              <c:pt idx="1">
                <c:v>Pro</c:v>
              </c:pt>
              <c:pt idx="2">
                <c:v>Growth</c:v>
              </c:pt>
              <c:pt idx="3">
                <c:v>Partner API</c:v>
              </c:pt>
            </c:strLit>
          </c:cat>
          <c:val>
            <c:numLit>
              <c:formatCode>General</c:formatCode>
              <c:ptCount val="4"/>
              <c:pt idx="0">
                <c:v>3265</c:v>
              </c:pt>
              <c:pt idx="1">
                <c:v>14414</c:v>
              </c:pt>
              <c:pt idx="2">
                <c:v>48136</c:v>
              </c:pt>
              <c:pt idx="3">
                <c:v>399573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C39B2-F8AB-41A0-9B66-A480E16D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92"/>
                </a:solidFill>
              </a:defRPr>
            </a:pPr>
            <a:r>
              <a:rPr sz="1200" b="1">
                <a:solidFill>
                  <a:srgbClr val="147D92"/>
                </a:solidFill>
              </a:rPr>
              <a:t>FLOWFINANCE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FD0A3-C8F3-465A-B8DE-06AA71E7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213D"/>
                </a:solidFill>
              </a:defRPr>
            </a:pPr>
            <a:r>
              <a:rPr sz="4050" b="1">
                <a:solidFill>
                  <a:srgbClr val="14213D"/>
                </a:solidFill>
              </a:rPr>
              <a:t>Enter through financial clarity, not lending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52812-D39C-47E0-AACB-FDE24547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MSME credit-readiness and cashflow analytics | modeled market-entry case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5682b7f3e46d4"/>
          <a:stretch xmlns:a="http://schemas.openxmlformats.org/drawingml/2006/main"/>
        </p:blipFill>
        <p:spPr>
          <a:xfrm xmlns:a="http://schemas.openxmlformats.org/drawingml/2006/main">
            <a:off x="7048500" y="1952625"/>
            <a:ext cx="4286250" cy="228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97E6F-89D4-486E-B1E5-F592A4E1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7D92"/>
                </a:solidFill>
              </a:defRPr>
            </a:pPr>
            <a:r>
              <a:rPr sz="3300" b="1">
                <a:solidFill>
                  <a:srgbClr val="147D92"/>
                </a:solidFill>
              </a:rPr>
              <a:t>10+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E05A1-1C38-4309-B99E-9E7E19F1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57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one-month free pilots; no revenue claimed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01EF6-7785-4A51-ABB2-FE3EB7B7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Recommendation case • pricing, LTV and payback are modeled assumptions pending paid validation</a:t>
            </a:r>
          </a:p>
        </p:txBody>
      </p:sp>
    </p:spTree>
    <p:extLst>
      <p:ext uri="{BB962C8B-B14F-4D97-AF65-F5344CB8AC3E}">
        <p14:creationId xmlns:p14="http://schemas.microsoft.com/office/powerpoint/2010/main" val="3425786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0AA85-B713-4C7F-99FE-FDD8D2D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CUSTOMER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A4E7D-089F-4E57-887E-7E24D97F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MSMEs need interpretation before they need more financial products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9F151-F2D8-4E80-B8E7-A6890286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D93B0-997C-488E-AD22-3D86D0E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Transaction data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8CB6F-F1CC-49FA-B626-E7B498AB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</a:defRPr>
            </a:pPr>
            <a:r>
              <a:rPr sz="1575">
                <a:solidFill>
                  <a:srgbClr val="526173"/>
                </a:solidFill>
              </a:rPr>
              <a:t>But cashflow visibility, categorization, receivables discipline and lender-ready evidence remain fragmented.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5DEDB-D339-41AC-AE70-F8E76D6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D92"/>
                </a:solidFill>
              </a:defRPr>
            </a:pPr>
            <a:r>
              <a:rPr sz="2100" b="1">
                <a:solidFill>
                  <a:srgbClr val="147D92"/>
                </a:solidFill>
              </a:rPr>
              <a:t>Analytics-first 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B0859-1281-4C56-9F4D-188FC4F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</a:defRPr>
            </a:pPr>
            <a:r>
              <a:rPr sz="1575">
                <a:solidFill>
                  <a:srgbClr val="526173"/>
                </a:solidFill>
              </a:rPr>
              <a:t>Health score, cash forecast, invoicing and explainable transaction intelligence create an operating layer before underwriting.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C6C92-6522-4092-B09E-A5FA3AEE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0A12B"/>
                </a:solidFill>
              </a:defRPr>
            </a:pPr>
            <a:r>
              <a:rPr sz="2100" b="1">
                <a:solidFill>
                  <a:srgbClr val="E0A12B"/>
                </a:solidFill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BB3B9-9352-4E14-8B1D-CC7C465B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14625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</a:defRPr>
            </a:pPr>
            <a:r>
              <a:rPr sz="1575">
                <a:solidFill>
                  <a:srgbClr val="526173"/>
                </a:solidFill>
              </a:rPr>
              <a:t>Do not originate loans. Do not present the score as credit approval. Keep consent and auditability explicit.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FC064-A060-4883-87E5-BC634BA1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Positioning: borrower-readiness and operating intelligence, not regulated credit decisioning</a:t>
            </a:r>
          </a:p>
        </p:txBody>
      </p:sp>
    </p:spTree>
    <p:extLst>
      <p:ext uri="{BB962C8B-B14F-4D97-AF65-F5344CB8AC3E}">
        <p14:creationId xmlns:p14="http://schemas.microsoft.com/office/powerpoint/2010/main" val="8570546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5A55E-61A4-4D58-9859-A63A1B12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MARKET SIZING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B722-60A2-456E-B61B-95EB0D1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The market is large; the reachable wedge is an assumption to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1B97E-575C-4A9B-85E0-FF101691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190500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8aa7b48b0642e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A2567-2251-4785-9A62-65094A72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0A12B"/>
                </a:solidFill>
              </a:defRPr>
            </a:pPr>
            <a:r>
              <a:rPr sz="1575" b="1">
                <a:solidFill>
                  <a:srgbClr val="E0A12B"/>
                </a:solidFill>
              </a:rPr>
              <a:t>Modeled assumptions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9CF38-CB58-4B0A-B252-1ED710F8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63M Indian MSMEs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35% digitally reachable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18% serviceable share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₹7,200 blended annual ARPA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2,500 year-one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BB7DE-30D3-4E14-832C-9EE24F3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863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3"/>
                </a:solidFill>
              </a:defRPr>
            </a:pPr>
            <a:r>
              <a:rPr sz="1275">
                <a:solidFill>
                  <a:srgbClr val="526173"/>
                </a:solidFill>
              </a:rPr>
              <a:t>Validate willingness-to-pay and partner distribution before using the SOM operationally.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2274E-3278-4112-9173-2B3038BA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TAM/SAM/SOM values are modeled, not realized market share</a:t>
            </a:r>
          </a:p>
        </p:txBody>
      </p:sp>
    </p:spTree>
    <p:extLst>
      <p:ext uri="{BB962C8B-B14F-4D97-AF65-F5344CB8AC3E}">
        <p14:creationId xmlns:p14="http://schemas.microsoft.com/office/powerpoint/2010/main" val="1580583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1112B-85EF-4EBB-BF1D-5225C5EE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UNIT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39126-A0EC-4B9B-A0C4-687CD8F2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Pro is the modeled entry tier; partner distribution controls the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6149B-6859-467B-981B-45DF3E37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09625" y="190500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9dcb32068d4b2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751CB-AD9C-4791-AE48-812421AA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7D92"/>
                </a:solidFill>
              </a:defRPr>
            </a:pPr>
            <a:r>
              <a:rPr sz="3300" b="1">
                <a:solidFill>
                  <a:srgbClr val="147D92"/>
                </a:solidFill>
              </a:rPr>
              <a:t>₹799/mo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3F0D4-2555-4F11-BAC1-7809B420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</a:defRPr>
            </a:pPr>
            <a:r>
              <a:rPr sz="1425">
                <a:solidFill>
                  <a:srgbClr val="526173"/>
                </a:solidFill>
              </a:rPr>
              <a:t>Pro modeled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68BDE-DC76-4D96-A1C5-AFDD0CD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2.14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B1E2A-EE30-4A22-AA56-5F90F253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</a:defRPr>
            </a:pPr>
            <a:r>
              <a:rPr sz="1425">
                <a:solidFill>
                  <a:srgbClr val="526173"/>
                </a:solidFill>
              </a:rPr>
              <a:t>modeled CAC payback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02FBA-48A8-4998-9D37-26D6F262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12B"/>
                </a:solidFill>
              </a:defRPr>
            </a:pPr>
            <a:r>
              <a:rPr sz="1350" b="1">
                <a:solidFill>
                  <a:srgbClr val="E0A12B"/>
                </a:solidFill>
              </a:rPr>
              <a:t>No revenue has been generated; paid conversion remains the decisive 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DAA83-5250-4005-9B03-83594061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Pricing, CAC, LTV and payback are scenario assumptions—not audited operating outcomes</a:t>
            </a:r>
          </a:p>
        </p:txBody>
      </p:sp>
    </p:spTree>
    <p:extLst>
      <p:ext uri="{BB962C8B-B14F-4D97-AF65-F5344CB8AC3E}">
        <p14:creationId xmlns:p14="http://schemas.microsoft.com/office/powerpoint/2010/main" val="11162559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1F95D-C676-499E-BA0C-41015E5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3C206-07F6-48D0-8987-7585DCC9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Paid conversion and retention matter more than headline LTV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C2EA7-5FB4-412C-856F-4E80B0D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961e986fd4f0b"/>
          <a:stretch xmlns:a="http://schemas.openxmlformats.org/drawingml/2006/main"/>
        </p:blipFill>
        <p:spPr>
          <a:xfrm xmlns:a="http://schemas.openxmlformats.org/drawingml/2006/main">
            <a:off x="666750" y="1984375"/>
            <a:ext cx="6667500" cy="355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DDC0-E3A7-40DA-9FA5-C56422AA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Bear-case payback remains below four months in the model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Partner-led CAC discipline is the largest controllable lever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Retention and gross margin dominate modeled LTV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</a:defRPr>
            </a:pPr>
            <a:r>
              <a:rPr sz="1425">
                <a:solidFill>
                  <a:srgbClr val="14213D"/>
                </a:solidFill>
              </a:rPr>
              <a:t>• Free-pilot return behavior is encouraging but not paid retention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4E590-8ADB-4813-8662-056E7D02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12B"/>
                </a:solidFill>
              </a:defRPr>
            </a:pPr>
            <a:r>
              <a:rPr sz="1350" b="1">
                <a:solidFill>
                  <a:srgbClr val="E0A12B"/>
                </a:solidFill>
              </a:rPr>
              <a:t>Decision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60A61-3A85-4C27-A5D7-45D5985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Do not scale acquisition until paid cohort retention validates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D95AB-3B21-4EF4-8DA6-3216EC9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Sensitivity is modeled; free pilots cannot establish paid LTV</a:t>
            </a:r>
          </a:p>
        </p:txBody>
      </p:sp>
    </p:spTree>
    <p:extLst>
      <p:ext uri="{BB962C8B-B14F-4D97-AF65-F5344CB8AC3E}">
        <p14:creationId xmlns:p14="http://schemas.microsoft.com/office/powerpoint/2010/main" val="12994959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20EC0-0EDF-481A-A70C-128F1918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LAUNCH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B5212-62A1-4CF8-9939-ADF1B79A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Use 90 days to turn free-pilot evidence into a paid go/no-go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86D18-0C88-4942-B689-EAE5374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46998-571F-42B5-B0C4-CED1667D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92"/>
                </a:solidFill>
              </a:defRPr>
            </a:pPr>
            <a:r>
              <a:rPr sz="2025" b="1">
                <a:solidFill>
                  <a:srgbClr val="147D92"/>
                </a:solidFill>
              </a:rPr>
              <a:t>Days 1–30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F4239-5073-4CD4-9B4B-26E9F521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Validate pain, consent flow, categorization quality and review frequency.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E4FA7-96D5-47B8-871A-53B0CD3C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92"/>
                </a:solidFill>
              </a:defRPr>
            </a:pPr>
            <a:r>
              <a:rPr sz="2025" b="1">
                <a:solidFill>
                  <a:srgbClr val="147D92"/>
                </a:solidFill>
              </a:rPr>
              <a:t>Days 31–60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4A015-F85B-41F0-A6C4-94414C4D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Test paid Pro conversion, activation, weekly usage and support burden.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62FC9-D5C2-4880-9E7B-A7A8B736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92"/>
                </a:solidFill>
              </a:defRPr>
            </a:pPr>
            <a:r>
              <a:rPr sz="2025" b="1">
                <a:solidFill>
                  <a:srgbClr val="147D92"/>
                </a:solidFill>
              </a:rPr>
              <a:t>Days 61–90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4F329-E082-49A0-AA7F-3A0B1CE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Secure partner pilots and test lender-readiness export demand.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84E4F-C22B-4458-9901-1FE68B1F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0A12B"/>
                </a:solidFill>
              </a:defRPr>
            </a:pPr>
            <a:r>
              <a:rPr sz="1425" b="1">
                <a:solidFill>
                  <a:srgbClr val="E0A12B"/>
                </a:solidFill>
              </a:rPr>
              <a:t>Go/no-go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A9727-FED4-4FB6-88AC-FDD0382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Paid conversion • 30/60-day retention • categorization accuracy • CAC payback • partner activation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1F432-4223-4B27-9B0D-A9C4A50F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The next milestone is paid evidence, not a larger modeled market</a:t>
            </a:r>
          </a:p>
        </p:txBody>
      </p:sp>
    </p:spTree>
    <p:extLst>
      <p:ext uri="{BB962C8B-B14F-4D97-AF65-F5344CB8AC3E}">
        <p14:creationId xmlns:p14="http://schemas.microsoft.com/office/powerpoint/2010/main" val="12986551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BF439-9D5A-4DCA-B10E-A97E1912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92"/>
                </a:solidFill>
              </a:defRPr>
            </a:pPr>
            <a:r>
              <a:rPr sz="1050" b="1">
                <a:solidFill>
                  <a:srgbClr val="147D92"/>
                </a:solidFill>
              </a:rPr>
              <a:t>FINAL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001B1-9CB3-41F7-9A7D-CC97AAD9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Proceed with a controlled paid test—without lending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352F6-5664-4842-81CF-6A967C7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07D81-E75E-416B-8A57-5FA64FF7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647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13D"/>
                </a:solidFill>
              </a:defRPr>
            </a:pPr>
            <a:r>
              <a:rPr sz="1725">
                <a:solidFill>
                  <a:srgbClr val="14213D"/>
                </a:solidFill>
              </a:rPr>
              <a:t>• Keep the wedge: credit-readiness and cashflow-health analytics</a:t>
            </a:r>
          </a:p>
          <a:p xmlns:a="http://schemas.openxmlformats.org/drawingml/2006/main">
            <a:pPr>
              <a:defRPr sz="1725">
                <a:solidFill>
                  <a:srgbClr val="14213D"/>
                </a:solidFill>
              </a:defRPr>
            </a:pPr>
            <a:r>
              <a:rPr sz="1725">
                <a:solidFill>
                  <a:srgbClr val="14213D"/>
                </a:solidFill>
              </a:rPr>
              <a:t>• Convert a small pilot cohort to paid Pro before scaling acquisition</a:t>
            </a:r>
          </a:p>
          <a:p xmlns:a="http://schemas.openxmlformats.org/drawingml/2006/main">
            <a:pPr>
              <a:defRPr sz="1725">
                <a:solidFill>
                  <a:srgbClr val="14213D"/>
                </a:solidFill>
              </a:defRPr>
            </a:pPr>
            <a:r>
              <a:rPr sz="1725">
                <a:solidFill>
                  <a:srgbClr val="14213D"/>
                </a:solidFill>
              </a:rPr>
              <a:t>• Use accountants and consultants as the first distribution partners</a:t>
            </a:r>
          </a:p>
          <a:p xmlns:a="http://schemas.openxmlformats.org/drawingml/2006/main">
            <a:pPr>
              <a:defRPr sz="1725">
                <a:solidFill>
                  <a:srgbClr val="14213D"/>
                </a:solidFill>
              </a:defRPr>
            </a:pPr>
            <a:r>
              <a:rPr sz="1725">
                <a:solidFill>
                  <a:srgbClr val="14213D"/>
                </a:solidFill>
              </a:rPr>
              <a:t>• Track activation, repeat reviews, paid retention and support cost</a:t>
            </a:r>
          </a:p>
          <a:p xmlns:a="http://schemas.openxmlformats.org/drawingml/2006/main">
            <a:pPr>
              <a:defRPr sz="1725">
                <a:solidFill>
                  <a:srgbClr val="14213D"/>
                </a:solidFill>
              </a:defRPr>
            </a:pPr>
            <a:r>
              <a:rPr sz="1725">
                <a:solidFill>
                  <a:srgbClr val="14213D"/>
                </a:solidFill>
              </a:rPr>
              <a:t>• Treat the health score as decision support, never credit approval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C5A45-BE96-4F37-8136-58D1A540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92"/>
                </a:solidFill>
              </a:defRPr>
            </a:pPr>
            <a:r>
              <a:rPr sz="1500" b="1">
                <a:solidFill>
                  <a:srgbClr val="147D92"/>
                </a:solidFill>
              </a:rPr>
              <a:t>Current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53E1-F5F8-4BD2-B444-C5564A93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10+ one-month free pilots</a:t>
            </a:r>
          </a:p>
          <a:p xmlns:a="http://schemas.openxmlformats.org/drawingml/2006/main"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10+ repeat financial reviews</a:t>
            </a:r>
          </a:p>
          <a:p xmlns:a="http://schemas.openxmlformats.org/drawingml/2006/main"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Public deployment reachable</a:t>
            </a:r>
          </a:p>
          <a:p xmlns:a="http://schemas.openxmlformats.org/drawingml/2006/main"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No revenue claimed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3EE47-4E16-446E-86A0-E526A000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0A12B"/>
                </a:solidFill>
              </a:defRPr>
            </a:pPr>
            <a:r>
              <a:rPr sz="1500" b="1">
                <a:solidFill>
                  <a:srgbClr val="E0A12B"/>
                </a:solidFill>
              </a:rPr>
              <a:t>Next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BE8D7-4C64-490C-9E93-DB92A44F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Paid conversion and retention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B48C2-C923-4022-B480-8CF11B8C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Recommendation conditioned on paid validation and consented financial-data handling</a:t>
            </a:r>
          </a:p>
        </p:txBody>
      </p:sp>
    </p:spTree>
    <p:extLst>
      <p:ext uri="{BB962C8B-B14F-4D97-AF65-F5344CB8AC3E}">
        <p14:creationId xmlns:p14="http://schemas.microsoft.com/office/powerpoint/2010/main" val="102211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2026-08-18T01:03:56.1140000Z</dcterms:created>
  <dcterms:modified xsi:type="dcterms:W3CDTF">2026-08-18T01:03:56.1140000Z</dcterms:modified>
</coreProperties>
</file>